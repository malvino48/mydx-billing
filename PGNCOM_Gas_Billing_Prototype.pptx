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Calibri"/>
              </a:defRPr>
            </a:pPr>
            <a:r>
              <a:t>OMNI X  |  MyDX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82F6"/>
                </a:solidFill>
                <a:latin typeface="Calibri"/>
              </a:defRPr>
            </a:pPr>
            <a:r>
              <a:t>Discovery Phase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1E3A8A"/>
                </a:solidFill>
                <a:latin typeface="Calibri"/>
              </a:defRPr>
            </a:pPr>
            <a:r>
              <a:t>PGNCOM Gas Billing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Working Full-Stack Prototype — End-to-End Billing 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PT PGN Com — Gas Billing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A5FA"/>
                </a:solidFill>
                <a:latin typeface="Calibri"/>
              </a:defRPr>
            </a:pPr>
            <a:r>
              <a:t>14 Agustus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FDBFE"/>
                </a:solidFill>
                <a:latin typeface="Calibri"/>
              </a:defRPr>
            </a:pPr>
            <a:r>
              <a:t>Tim MyDX — PT Infomedia Nusantara</a:t>
            </a:r>
          </a:p>
        </p:txBody>
      </p:sp>
      <p:pic>
        <p:nvPicPr>
          <p:cNvPr id="14" name="Picture 13" descr="dashboard_page_17866780566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3200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Alur Presentasi Prototype Gas Billing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1148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533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Latar Belakang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727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Konteks bisnis dan kebutuhan transformasi billing gas bumi PGNCOM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38528"/>
            <a:ext cx="41148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20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Pain Points Proses Saat 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13969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 permasalahan utama yang teridentifikasi dari blueprint discovery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05456"/>
            <a:ext cx="41148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871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Solusi: OMNI X Gas Billing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0662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Arsitektur ticket-based billing pipeline yang immutable dan auditable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72384"/>
            <a:ext cx="41148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540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Fitur Utama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7355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HGBT Compliance, Proration Engine, JISDOR Conversion, Audit Trail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39312"/>
            <a:ext cx="41148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6210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Demo Aplikasi — Dashboard &amp; Transaksi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8404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Tampilan dashboard, daftar tiket billing, dan workflow pembuatan tiket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06240"/>
            <a:ext cx="41148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87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Demo Aplikasi — Billing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40740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End-to-end: Worklist → Decision → Kalkulasi → Validasi → Approval → Invoice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773168"/>
            <a:ext cx="41148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54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Demo Aplikasi — Master Data &amp; Referensi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97433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Manajemen customer, kontrak, kurs JISDOR, dan genealogi regulasi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40096"/>
            <a:ext cx="41148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3218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Data Model &amp; Compliance Matrix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54126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Schema database, 12 tabel, dan pemetaan kepatuhan regulasi (RQ-01 s/d RQ-12)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907024"/>
            <a:ext cx="41148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8887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Ringkasan &amp; Next Steps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6108192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Area konfirmasi bisnis, roadmap development, dan diskusi terbuka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Konteks bisnis dan kebutuhan transformasi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Calibri"/>
              </a:defRPr>
            </a:pPr>
            <a:r>
              <a:t>Tantangan Proses Billing Gas Bumi PGNCOM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Proses billing gas bumi PGNCOM saat ini masih mengandalkan workflow manual dan spreadsheet yang tersebar</a:t>
            </a:r>
          </a:p>
          <a:p>
            <a:pPr>
              <a:spcAft>
                <a:spcPts val="10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Regulasi harga gas (Permen/Kepmen ESDM) berubah secara periodik, menyebabkan ketidakpastian tarif</a:t>
            </a:r>
          </a:p>
          <a:p>
            <a:pPr>
              <a:spcAft>
                <a:spcPts val="10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Kepatuhan terhadap HGBT Cap (USD 6.00/MMBTU) untuk 7 industri strategis harus divalidasi manual</a:t>
            </a:r>
          </a:p>
          <a:p>
            <a:pPr>
              <a:spcAft>
                <a:spcPts val="10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Tidak ada version control pada kalkulasi — perubahan menimpa data sebelumnya</a:t>
            </a:r>
          </a:p>
          <a:p>
            <a:pPr>
              <a:spcAft>
                <a:spcPts val="10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Audit trail dan explainability dari setiap perhitungan sulit dilacak</a:t>
            </a:r>
          </a:p>
          <a:p>
            <a:pPr>
              <a:spcAft>
                <a:spcPts val="1000"/>
              </a:spcAft>
              <a:defRPr sz="1100">
                <a:solidFill>
                  <a:srgbClr val="1A1A2E"/>
                </a:solidFill>
                <a:latin typeface="Calibri"/>
              </a:defRPr>
            </a:pPr>
            <a:r>
              <a:t>•  Konversi mata uang USD→IDR dan perhitungan PPN dilakukan di luar sistem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029200" cy="146304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4864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B82F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29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Industri HGBT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6002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Pupuk, Petrokimia, Oleokimia,</a:t>
            </a:r>
            <a:br/>
            <a:r>
              <a:t>Baja, Keramik, Kaca,</a:t>
            </a:r>
            <a:br/>
            <a:r>
              <a:t>Sarung Tangan Karet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063240"/>
            <a:ext cx="5029200" cy="146304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0" y="3063240"/>
            <a:ext cx="54864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3246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0B981"/>
                </a:solidFill>
                <a:latin typeface="Calibri"/>
              </a:defRPr>
            </a:pPr>
            <a:r>
              <a:t>USD 6.00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21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HGBT Cap /MMBTU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2918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Batas harga eligible</a:t>
            </a:r>
            <a:br/>
            <a:r>
              <a:t>Permen ESDM 15/2022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754880"/>
            <a:ext cx="5029200" cy="146304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4754880"/>
            <a:ext cx="54864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4937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59E0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413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Pain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9834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Teridentifikasi dari</a:t>
            </a:r>
            <a:br/>
            <a:r>
              <a:t>blueprint 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Pain Points Proses Saat Ini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6 permasalahan utama — kalkulasi, tarif, dan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394960" cy="15544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463040"/>
            <a:ext cx="50292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P01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356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Repeated Recalculation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Kalkulasi billing berulang tanpa version control. Setiap revisi menimpa data sebelumnya, tidak ada riwayat versi yang bisa di-audit.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80136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✓ Solusi Prototype: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984248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3A8A"/>
                </a:solidFill>
                <a:latin typeface="Calibri"/>
              </a:defRPr>
            </a:pPr>
            <a:r>
              <a:t>Calculation versioning (v1→v2→v3)</a:t>
            </a:r>
            <a:br/>
            <a:r>
              <a:t>dengan immutable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94960" cy="15544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55080" y="1463040"/>
            <a:ext cx="50292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P02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4356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Tariff Period 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Ketidakpastian tarif saat terjadi pergantian regulasi di tengah bulan billing. Proses split manual rawan kesalahan.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80136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✓ Solusi Prototype: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1984248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3A8A"/>
                </a:solidFill>
                <a:latin typeface="Calibri"/>
              </a:defRPr>
            </a:pPr>
            <a:r>
              <a:t>Proration engine otomatis</a:t>
            </a:r>
            <a:br/>
            <a:r>
              <a:t>dengan daily average splitting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63240"/>
            <a:ext cx="5394960" cy="15544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5800" y="3200400"/>
            <a:ext cx="50292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P03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1729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Multiple Price &amp; Formula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20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Satu customer bisa punya lebih dari satu kontrak, masing-masing dengan formula dan harga berbeda. Priority rule harus dikelola manual.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5387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✓ Solusi Prototype: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721608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3A8A"/>
                </a:solidFill>
                <a:latin typeface="Calibri"/>
              </a:defRPr>
            </a:pPr>
            <a:r>
              <a:t>Rule resolution engine</a:t>
            </a:r>
            <a:br/>
            <a:r>
              <a:t>dengan priority-based selection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063240"/>
            <a:ext cx="5394960" cy="15544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55080" y="3200400"/>
            <a:ext cx="50292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P04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1729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Regulatory 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20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Perubahan regulasi Permen/Kepmen ESDM harus di-track manual. Regulasi dicabut bisa masih terpakai tanpa sadar.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5387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✓ Solusi Prototype: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721608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3A8A"/>
                </a:solidFill>
                <a:latin typeface="Calibri"/>
              </a:defRPr>
            </a:pPr>
            <a:r>
              <a:t>Genealogi regulasi dengan</a:t>
            </a:r>
            <a:br/>
            <a:r>
              <a:t>status active/revoked tracking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00600"/>
            <a:ext cx="5394960" cy="15544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85800" y="4937760"/>
            <a:ext cx="50292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P05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9103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Fragmented Source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257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Data meter reading, kontrak, dan harga tersebar di berbagai spreadsheet. Completeness check tidak otomatis.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27608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✓ Solusi Prototype: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458968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3A8A"/>
                </a:solidFill>
                <a:latin typeface="Calibri"/>
              </a:defRPr>
            </a:pPr>
            <a:r>
              <a:t>Worklist check otomatis</a:t>
            </a:r>
            <a:br/>
            <a:r>
              <a:t>dengan completeness validation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800600"/>
            <a:ext cx="5394960" cy="15544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355080" y="4937760"/>
            <a:ext cx="50292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P06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9103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Payment Scheme Complexity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257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Tiga skema bayar berbeda (postpaid, prepaid, hybrid) memerlukan formula kalkulasi yang berbeda-beda.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27608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✓ Solusi Prototype: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458968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3A8A"/>
                </a:solidFill>
                <a:latin typeface="Calibri"/>
              </a:defRPr>
            </a:pPr>
            <a:r>
              <a:t>Multi-scheme engine:</a:t>
            </a:r>
            <a:br/>
            <a:r>
              <a:t>postpaid, prepaid, hybrid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Pain Points Proses Saat Ini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5 permasalahan utama — validasi, audit, dan invoice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394960" cy="15544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463040"/>
            <a:ext cx="50292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P07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356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UOM, Allocation &amp;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Konversi unit m³→MMBTU harus manual. Pemisahan volume eligible vs excess berdasarkan alokasi kontrak tidak otomatis.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80136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✓ Solusi Prototype: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984248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3A8A"/>
                </a:solidFill>
                <a:latin typeface="Calibri"/>
              </a:defRPr>
            </a:pPr>
            <a:r>
              <a:t>Auto-conversion m³→MMBTU</a:t>
            </a:r>
            <a:br/>
            <a:r>
              <a:t>dengan allocation splitting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394960" cy="15544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55080" y="1463040"/>
            <a:ext cx="50292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P08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4356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Manual Validation &amp;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Threshold variance tidak ada standar otomatis. Approval maker-checker dilakukan di luar sistem.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80136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✓ Solusi Prototype: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1984248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3A8A"/>
                </a:solidFill>
                <a:latin typeface="Calibri"/>
              </a:defRPr>
            </a:pPr>
            <a:r>
              <a:t>Variance detection + maker-checker</a:t>
            </a:r>
            <a:br/>
            <a:r>
              <a:t>approval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063240"/>
            <a:ext cx="5394960" cy="15544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5800" y="3200400"/>
            <a:ext cx="50292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P09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1729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Explainability &amp; 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20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Tidak bisa trace bagaimana suatu angka billing dihasilkan — rule mana yang dipakai, tarif berapa, formula apa.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5387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✓ Solusi Prototype: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721608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3A8A"/>
                </a:solidFill>
                <a:latin typeface="Calibri"/>
              </a:defRPr>
            </a:pPr>
            <a:r>
              <a:t>Trace JSON lengkap per kalkulasi</a:t>
            </a:r>
            <a:br/>
            <a:r>
              <a:t>dengan snapshot tarif yang dibekukan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063240"/>
            <a:ext cx="5394960" cy="15544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55080" y="3200400"/>
            <a:ext cx="50292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P10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1729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Billing Frequency &amp; Charge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204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Charge recurring (bulanan), annual (prorata), dan one-time fee harus dihitung terpisah di spreadsheet.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5387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✓ Solusi Prototype: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721608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3A8A"/>
                </a:solidFill>
                <a:latin typeface="Calibri"/>
              </a:defRPr>
            </a:pPr>
            <a:r>
              <a:t>Formula engine mendukung</a:t>
            </a:r>
            <a:br/>
            <a:r>
              <a:t>recurring + annual + one-time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00600"/>
            <a:ext cx="5394960" cy="155448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85800" y="4937760"/>
            <a:ext cx="502920" cy="274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P11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9103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Invoice Inconsistency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2578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Invoice yang diterbitkan tidak memiliki breakdown komponen yang lengkap dan tidak bisa dicocokan ke source data.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27608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Calibri"/>
              </a:defRPr>
            </a:pPr>
            <a:r>
              <a:t>✓ Solusi Prototype: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458968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3A8A"/>
                </a:solidFill>
                <a:latin typeface="Calibri"/>
              </a:defRPr>
            </a:pPr>
            <a:r>
              <a:t>Invoice eDoc dengan breakdown</a:t>
            </a:r>
            <a:br/>
            <a:r>
              <a:t>eligible/excess/fee + source ref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402" y="4800600"/>
            <a:ext cx="5181598" cy="97594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9377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3A8A"/>
                </a:solidFill>
                <a:latin typeface="Calibri"/>
              </a:defRPr>
            </a:pPr>
            <a:r>
              <a:t>💡  Semua 11 pain points telah dipetakan langsung ke endpoint API dan UI fungsional di prototype. Setiap skenario bisa dijalankan end-to-end dan hasilnya tersimpan permanen di database.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Solusi: Ticket-Based Billing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Alur kerja 7-step yang terkontrol, immutable, dan auditable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1371600" cy="1188720"/>
          </a:xfrm>
          <a:prstGeom prst="roundRect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2E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Draft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Buat tiket billing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1371600"/>
            <a:ext cx="1371600" cy="1188720"/>
          </a:xfrm>
          <a:prstGeom prst="roundRect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168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2E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Worklist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Cek data lengkap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1371600"/>
            <a:ext cx="1371600" cy="1188720"/>
          </a:xfrm>
          <a:prstGeom prst="roundRect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2E"/>
                </a:solidFill>
                <a:latin typeface="Calibri"/>
              </a:defRPr>
            </a:pPr>
            <a:r>
              <a:t>⚖️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Resolve rule &amp; tarif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1371600"/>
            <a:ext cx="1371600" cy="1188720"/>
          </a:xfrm>
          <a:prstGeom prst="roundRect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2E"/>
                </a:solidFill>
                <a:latin typeface="Calibri"/>
              </a:defRPr>
            </a:pPr>
            <a:r>
              <a:t>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Calculate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Hitung USD+IDR+PPN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1371600"/>
            <a:ext cx="1371600" cy="1188720"/>
          </a:xfrm>
          <a:prstGeom prst="roundRect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2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HGBT &amp; variance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1371600"/>
            <a:ext cx="1371600" cy="1188720"/>
          </a:xfrm>
          <a:prstGeom prst="roundRect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9536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2E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Approve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Maker-checker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16916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B82F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0" y="1371600"/>
            <a:ext cx="1371600" cy="1188720"/>
          </a:xfrm>
          <a:prstGeom prst="round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4128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2E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18105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Invoice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eDoc immutable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Calibri"/>
              </a:defRPr>
            </a:pPr>
            <a:r>
              <a:t>Kapabilitas Utama yang Dibangun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3291840"/>
            <a:ext cx="5394960" cy="137160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48640" y="3291840"/>
            <a:ext cx="54864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20" y="3401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3429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Immutability &amp; Database Lock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37490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SQLite triggers mencegah edit/delete data yang sudah INVOICED. Prinsip: history is immutable — perubahan membuat versi baru.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3291840"/>
            <a:ext cx="5394960" cy="137160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17920" y="3291840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3401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3429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HGBT Compliance (Permen ESDM 15/2022)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7490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Validasi otomatis batas harga USD 6.00/MMBTU untuk 7 industri strategis. Pelanggaran diblokir oleh sistem.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4846320"/>
            <a:ext cx="5394960" cy="137160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48640" y="4846320"/>
            <a:ext cx="54864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1520" y="49560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4983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Proration Engine (Mid-Month Rate Change)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" y="53035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Kalkulasi prorata otomatis saat ada pergantian tarif regulasi di tengah bulan. Mendukung daily average dan sub-period splitting.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846320"/>
            <a:ext cx="5394960" cy="137160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217920" y="4846320"/>
            <a:ext cx="54864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0" y="49560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  <a:latin typeface="Calibri"/>
              </a:defRPr>
            </a:pPr>
            <a:r>
              <a:t>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66560" y="4983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JISDOR + PPN Conversion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53035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Konversi USD→IDR otomatis menggunakan kurs JISDOR Bank Indonesia. PPN 11% dihitung secara terintegrasi.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Prototype dalam Angka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Data seed, arsitektur, dan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56032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HGBT + Non-HGBT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371600"/>
            <a:ext cx="256032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Kontrak Aktif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402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Multi-scheme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256032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Regulasi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402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Permen/Kepmen ESDM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371600"/>
            <a:ext cx="256032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1508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Formula Billing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2402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Postpaid/Hybrid/etc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926080"/>
            <a:ext cx="256032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566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Industri HGBT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794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Sektor strategis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2926080"/>
            <a:ext cx="256032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566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Pain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794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Fully addressed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926080"/>
            <a:ext cx="256032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566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Tabel 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794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Normalized schema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2926080"/>
            <a:ext cx="2560320" cy="12801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52560" y="3063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5661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2E"/>
                </a:solidFill>
                <a:latin typeface="Calibri"/>
              </a:defRPr>
            </a:pPr>
            <a:r>
              <a:t>API Endpoint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37947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RESTful routes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8A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77440" y="4983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Node.js + Express 4.x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5303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SQLite 3 dengan WAL mode (better-sqlite3)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623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5623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HTML5 / CSS3 / Vanilla JavaScript (zero build step)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94359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594359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RESTful JSON — 30+ endpoints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263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6263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Zero dependency eksternal — semua jalan lokal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Demo Aplikasi —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Halaman utama dengan ringkasan status tiket billing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ashboard_page_17866780566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498079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925312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Dashboard — Metric cards + Billing Tickets terbaru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463040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463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Metric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71907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Total tiket, menunggu aksi, approved, dan invoiced. Real-time dari database.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560320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560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Tabel Tiket Terbaru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81635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6 tiket terakhir dengan status badge berwarna. Klik untuk membuka detail.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3657600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36576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Kebijakan HGBT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91363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Informasi kebijakan harga gas bumi aktif — USD 6.00/MMBTU cap.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4754879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0" y="475487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Sidebar Navigation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010911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Navigasi ke Dashboard, Report, Master Data, Transaction, JISDOR, dan QA.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Demo Aplikasi — Daftar Transaksi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Tabel billing ticket dengan filter status dan aksi tiket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ransaction_page_billing_tickets_17866776216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498079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925312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Transaction — Daftar tiket billing dengan filter 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463040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463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Status Filter Tabs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71907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Filter tiket berdasarkan status: DRAFT, WORKLIST, DECISION, CALCULATED, VALIDATED, APPROVED, INVOICED.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560320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560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Detail Tiket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81635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Setiap baris menampilkan ID tiket, customer, industri HGBT, periode, skema bayar, dan status.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3657600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36576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Buat Tiket Baru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91363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Modal dialog untuk memilih customer, kontrak, dan periode. Kontrak yang sudah ada tiketnya otomatis disabled.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4754879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0" y="475487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Reset / Cleansing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010911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Fitur admin untuk reset semua tiket ke kondisi awal (untuk keperluan demo).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Billing Workflow — Step 1 &amp; 2: Worklist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Membuka tiket dan memverifikasi kelengkapan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icket_details_panel_17866776952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94360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1081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Ticket Detail Panel — Worklist step aktif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Calibri"/>
              </a:defRPr>
            </a:pPr>
            <a:r>
              <a:t>Step 1: Draft → Worklist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Slide-out panel menampilkan detail tiket: ID, customer, kontrak, periode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Pipeline stepper visual menunjukkan posisi step saat ini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Informasi kontrak: alokasi MMBTU, payment scheme, durasi kontrak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Worklist check otomatis memvalidasi:</a:t>
            </a:r>
            <a:br/>
            <a:r>
              <a:t>  • Meter reading tersedia (raw m³)</a:t>
            </a:r>
            <a:br/>
            <a:r>
              <a:t>  • Konversi m³→MMBTU berhasil</a:t>
            </a:r>
            <a:br/>
            <a:r>
              <a:t>  • Status data: validated / missing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Jika data incomplete, sistem memblokir progres ke step berikutnya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Billing Workflow — Step 3: Decision (Rule Resolution)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Menentukan tarif dan formula berdasarkan billing rule yang aktif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worklist_result_decision_stage_17866777429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94360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1081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Decision step — Rule resolution dan tarif terpilih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Calibri"/>
              </a:defRPr>
            </a:pPr>
            <a:r>
              <a:t>Step 3: Decision &amp; Price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Rule resolution engine memilih billing rule berdasarkan:</a:t>
            </a:r>
            <a:br/>
            <a:r>
              <a:t>  • Tanggal efektif (valid_from / valid_to)</a:t>
            </a:r>
            <a:br/>
            <a:r>
              <a:t>  • Priority ranking rule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Menampilkan tarif terpilih:</a:t>
            </a:r>
            <a:br/>
            <a:r>
              <a:t>  • Rate eligible (HGBT): USD/MMBTU</a:t>
            </a:r>
            <a:br/>
            <a:r>
              <a:t>  • Rate excess: USD/MMBTU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Validasi status regulasi — apakah Permen/Kepmen masih aktif atau sudah dicabut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Formula billing terpilih ditampilkan lengkap (F-POSTPAID-STD, F-HYBRID, dll.)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Rules yang tidak terpilih ditampilkan dengan alasan penolakan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Billing Workflow — Step 4: Kalkulasi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Perhitungan otomatis USD + konversi IDR (JISDOR) + PPN 11%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alculation_results_17866777955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94360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10819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Calculation results — Total USD, IDR, PPN 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Calibri"/>
              </a:defRPr>
            </a:pPr>
            <a:r>
              <a:t>Step 4: Kalkulasi &amp; Konversi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Formula engine menghitung berdasarkan:</a:t>
            </a:r>
            <a:br/>
            <a:r>
              <a:t>  • Eligible qty × rate eligible</a:t>
            </a:r>
            <a:br/>
            <a:r>
              <a:t>  • Excess qty × rate excess</a:t>
            </a:r>
            <a:br/>
            <a:r>
              <a:t>  • Fixed fee + annual fee (prorata) + one-time fee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Konversi otomatis USD → IDR:</a:t>
            </a:r>
            <a:br/>
            <a:r>
              <a:t>  • Kurs JISDOR Bank Indonesia terbaru</a:t>
            </a:r>
            <a:br/>
            <a:r>
              <a:t>  • PPN 11% dihitung otomatis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Snapshot tarif dibekukan (frozen) saat kalkulasi berjalan — G-01 compliance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Version number otomatis increment (v1 → v2 → v3) untuk setiap re-kalkulasi</a:t>
            </a:r>
          </a:p>
          <a:p>
            <a:pPr>
              <a:spcAft>
                <a:spcPts val="800"/>
              </a:spcAft>
              <a:defRPr sz="1050">
                <a:solidFill>
                  <a:srgbClr val="1A1A2E"/>
                </a:solidFill>
                <a:latin typeface="Calibri"/>
              </a:defRPr>
            </a:pPr>
            <a:r>
              <a:t>•  Setiap kalkulasi menghasilkan trace JSON lengkap untuk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Billing Workflow — Step 5 &amp; 6: Validasi &amp;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HGBT cap check, variance detection, dan maker-checker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validation_result_17866778499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48640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37307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Validation result — Straight-through approval</a:t>
            </a:r>
          </a:p>
        </p:txBody>
      </p:sp>
      <p:pic>
        <p:nvPicPr>
          <p:cNvPr id="10" name="Picture 9" descr="approved_state_17866778808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31920"/>
            <a:ext cx="548640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3825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Approved state — Auto-approved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Calibri"/>
              </a:defRPr>
            </a:pPr>
            <a:r>
              <a:t>Step 5: Validasi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HGBT cap validation: pastikan rate eligible ≤ USD 6.00/MMBTU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Variance detection: bandingkan dengan kalkulasi approved sebelumnya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Threshold: variance &gt; 15% membutuhkan approval manual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Straight-through: jika tidak ada exception, lanjut otomatis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319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Calibri"/>
              </a:defRPr>
            </a:pPr>
            <a:r>
              <a:t>Step 6: Approval (Maker-Checker)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3891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Maker (pembuat) meng-submit kalkulasi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Checker (approver) me-review dan menyetujui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Auto-approve jika straight-through (no exceptions)</a:t>
            </a:r>
          </a:p>
          <a:p>
            <a:pPr>
              <a:spcAft>
                <a:spcPts val="6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Manual approve jika ada variance/HGBT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Billing Workflow — Step 7: Invoice eDoc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Penerbitan invoice komersial dengan breakdown lengkap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nvoice_result_17866779077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858000" cy="4754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10819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Invoice eDoc — INV-202607-CTR-001-v1 dengan breakdown komponen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3A8A"/>
                </a:solidFill>
                <a:latin typeface="Calibri"/>
              </a:defRPr>
            </a:pPr>
            <a:r>
              <a:t>Invoice eDoc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8288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Nomor invoice auto-generated: INV-{periode}-{kontrak}-v{versi}</a:t>
            </a:r>
          </a:p>
          <a:p>
            <a:pPr>
              <a:spcAft>
                <a:spcPts val="7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Status: ISSUED → immutable (tidak bisa diubah/dihapus)</a:t>
            </a:r>
          </a:p>
          <a:p>
            <a:pPr>
              <a:spcAft>
                <a:spcPts val="7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Breakdown komponen lengkap:</a:t>
            </a:r>
            <a:br/>
            <a:r>
              <a:t>  • Eligible usage (HGBT ≤ $6)</a:t>
            </a:r>
            <a:br/>
            <a:r>
              <a:t>  • Excess usage</a:t>
            </a:r>
            <a:br/>
            <a:r>
              <a:t>  • Fixed fee</a:t>
            </a:r>
            <a:br/>
            <a:r>
              <a:t>  • Annual fee (prorata)</a:t>
            </a:r>
            <a:br/>
            <a:r>
              <a:t>  • One-time fee</a:t>
            </a:r>
          </a:p>
          <a:p>
            <a:pPr>
              <a:spcAft>
                <a:spcPts val="7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Konversi IDR lengkap:</a:t>
            </a:r>
            <a:br/>
            <a:r>
              <a:t>  • Kurs JISDOR + tanggal kurs</a:t>
            </a:r>
            <a:br/>
            <a:r>
              <a:t>  • PPN 11%</a:t>
            </a:r>
            <a:br/>
            <a:r>
              <a:t>  • Total IDR final</a:t>
            </a:r>
          </a:p>
          <a:p>
            <a:pPr>
              <a:spcAft>
                <a:spcPts val="7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Payment scheme info: postpaid / prepaid (balance applied) / hybrid</a:t>
            </a:r>
          </a:p>
          <a:p>
            <a:pPr>
              <a:spcAft>
                <a:spcPts val="7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Referensi source: contract ID, calculation version, rule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Demo Aplikasi — Master Data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Kelola customer, kontrak, harga, dan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aster_data_17866776479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498079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925312"/>
            <a:ext cx="74980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Master Data — Tabel customer, kontrak, price versions, dan formula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463040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1463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Tab-based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71907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Customer, Kontrak, Price Versions, Formula, Billing Rules, Usage Records — semua bisa dikelola.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560320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5603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CRUD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81635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Tambah, edit, dan lihat data master. Data yang terikat tiket INVOICED otomatis terkunci.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3657600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36576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Data Seeding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91363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18 customer, 28 kontrak, 5 regulasi, 4 formula — sudah ter-seed untuk demo.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4754879"/>
            <a:ext cx="36576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0" y="475487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alibri"/>
              </a:defRPr>
            </a:pPr>
            <a:r>
              <a:t>HGBT Industry Tags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010911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Customer HGBT ditandai dengan badge industri (Pupuk, Petrokimia, Baja, dll).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Demo Aplikasi — Kurs JISDOR &amp; Genealogi Regulasi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Referensi kurs Bank Indonesia dan tracking regulasi HGBT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jisdor_rates_page_actual_17866780059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48640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37307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Kurs JISDOR — Riwayat kurs Bank Indonesia + Simulasi konversi</a:t>
            </a:r>
          </a:p>
        </p:txBody>
      </p:sp>
      <p:pic>
        <p:nvPicPr>
          <p:cNvPr id="10" name="Picture 9" descr="report_management_page_17866780313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931920"/>
            <a:ext cx="548640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3825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Report Management — Genealogi regulasi HGBT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Calibri"/>
              </a:defRPr>
            </a:pPr>
            <a:r>
              <a:t>Kurs JISDOR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Riwayat kurs USD/IDR dari Bank Indonesia</a:t>
            </a:r>
          </a:p>
          <a:p>
            <a:pPr>
              <a:spcAft>
                <a:spcPts val="5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Kurs terbaru otomatis digunakan saat kalkulasi</a:t>
            </a:r>
          </a:p>
          <a:p>
            <a:pPr>
              <a:spcAft>
                <a:spcPts val="5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Simulasi konversi IDR dengan kurs custom + PPN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Calibri"/>
              </a:defRPr>
            </a:pPr>
            <a:r>
              <a:t>Genealogi Regulasi HGBT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297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Timeline visual regulasi: Permen 4/2016 → 8/2020 → 15/2022</a:t>
            </a:r>
          </a:p>
          <a:p>
            <a:pPr>
              <a:spcAft>
                <a:spcPts val="5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Kepmen ESDM 91/2023 &amp; 281/2026</a:t>
            </a:r>
          </a:p>
          <a:p>
            <a:pPr>
              <a:spcAft>
                <a:spcPts val="5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Status tracking: Aktif / Dicabut (revoked)</a:t>
            </a:r>
          </a:p>
          <a:p>
            <a:pPr>
              <a:spcAft>
                <a:spcPts val="5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Regulasi yang dicabut otomatis diblokir dari billing</a:t>
            </a:r>
          </a:p>
          <a:p>
            <a:pPr>
              <a:spcAft>
                <a:spcPts val="500"/>
              </a:spcAft>
              <a:defRPr sz="1000">
                <a:solidFill>
                  <a:srgbClr val="1A1A2E"/>
                </a:solidFill>
                <a:latin typeface="Calibri"/>
              </a:defRPr>
            </a:pPr>
            <a:r>
              <a:t>•  Setiap regulasi memiliki HGBT cap dan price 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Data Model — Schema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12 tabel relasional dengan SQLite triggers untuk immutability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Tabel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Deskripsi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  <a:latin typeface="Calibri"/>
              </a:defRPr>
            </a:pPr>
            <a:r>
              <a:t>Kategori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1088136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JetBrains Mono"/>
              </a:defRPr>
            </a:pPr>
            <a:r>
              <a:t>hgbt_industries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6916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7 sektor industri HGBT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700784"/>
            <a:ext cx="1097280" cy="237744"/>
          </a:xfrm>
          <a:prstGeom prst="roundRect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Master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29968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0756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JetBrains Mono"/>
              </a:defRPr>
            </a:pPr>
            <a:r>
              <a:t>regulations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07568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Permen/Kepmen ESDM +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084832"/>
            <a:ext cx="1097280" cy="237744"/>
          </a:xfrm>
          <a:prstGeom prst="roundRect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Master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14016"/>
            <a:ext cx="1088136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45973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JetBrains Mono"/>
              </a:defRPr>
            </a:pPr>
            <a:r>
              <a:t>price_versions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4597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Versi harga + valid_from/to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468880"/>
            <a:ext cx="1097280" cy="237744"/>
          </a:xfrm>
          <a:prstGeom prst="roundRect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Master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798064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284378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JetBrains Mono"/>
              </a:defRPr>
            </a:pPr>
            <a:r>
              <a:t>formulas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84378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Formula kalkulasi billing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852928"/>
            <a:ext cx="1097280" cy="237744"/>
          </a:xfrm>
          <a:prstGeom prst="roundRect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Master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182112"/>
            <a:ext cx="1088136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2278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JetBrains Mono"/>
              </a:defRPr>
            </a:pPr>
            <a:r>
              <a:t>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2278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Data pelanggan + NPWP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3236976"/>
            <a:ext cx="1097280" cy="237744"/>
          </a:xfrm>
          <a:prstGeom prst="roundRect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Master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566160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611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JetBrains Mono"/>
              </a:defRPr>
            </a:pPr>
            <a:r>
              <a:t>contracts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3611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Kontrak + payment scheme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3621024"/>
            <a:ext cx="1097280" cy="237744"/>
          </a:xfrm>
          <a:prstGeom prst="roundRect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Master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950208"/>
            <a:ext cx="1088136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39959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JetBrains Mono"/>
              </a:defRPr>
            </a:pPr>
            <a:r>
              <a:t>billing_rules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39959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Rule → contract + price + formula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4005072"/>
            <a:ext cx="1097280" cy="237744"/>
          </a:xfrm>
          <a:prstGeom prst="roundRect">
            <a:avLst/>
          </a:prstGeom>
          <a:noFill/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Master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334256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437997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JetBrains Mono"/>
              </a:defRPr>
            </a:pPr>
            <a:r>
              <a:t>usage_records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437997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Meter reading m³ + MMBTU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4389120"/>
            <a:ext cx="1097280" cy="237744"/>
          </a:xfrm>
          <a:prstGeom prst="round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  <a:latin typeface="Calibri"/>
              </a:defRPr>
            </a:pPr>
            <a:r>
              <a:t>Transaksi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718304"/>
            <a:ext cx="1088136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47640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JetBrains Mono"/>
              </a:defRPr>
            </a:pPr>
            <a:r>
              <a:t>jisdor_rates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47640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Kurs JISDOR Bank Indonesia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4773168"/>
            <a:ext cx="1097280" cy="237744"/>
          </a:xfrm>
          <a:prstGeom prst="roundRect">
            <a:avLst/>
          </a:prstGeom>
          <a:noFill/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9E0B"/>
                </a:solidFill>
                <a:latin typeface="Calibri"/>
              </a:defRPr>
            </a:pPr>
            <a:r>
              <a:t>Referensi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2352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31520" y="51480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JetBrains Mono"/>
              </a:defRPr>
            </a:pPr>
            <a:r>
              <a:t>billing_tickets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51480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Tiket billing + status lifecycle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01200" y="5157216"/>
            <a:ext cx="1097280" cy="237744"/>
          </a:xfrm>
          <a:prstGeom prst="round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  <a:latin typeface="Calibri"/>
              </a:defRPr>
            </a:pPr>
            <a:r>
              <a:t>Transaksi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486400"/>
            <a:ext cx="1088136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JetBrains Mono"/>
              </a:defRPr>
            </a:pPr>
            <a:r>
              <a:t>calculations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5532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Kalkulasi + snapshot + trace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01200" y="5541264"/>
            <a:ext cx="1097280" cy="237744"/>
          </a:xfrm>
          <a:prstGeom prst="round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  <a:latin typeface="Calibri"/>
              </a:defRPr>
            </a:pPr>
            <a:r>
              <a:t>Transaksi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870448"/>
            <a:ext cx="10881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1520" y="59161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3A8A"/>
                </a:solidFill>
                <a:latin typeface="JetBrains Mono"/>
              </a:defRPr>
            </a:pPr>
            <a:r>
              <a:t>invoices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31920" y="59161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Invoice eDoc + breakdown IDR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601200" y="5925312"/>
            <a:ext cx="1097280" cy="237744"/>
          </a:xfrm>
          <a:prstGeom prst="roundRect">
            <a:avLst/>
          </a:prstGeom>
          <a:noFill/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  <a:latin typeface="Calibri"/>
              </a:defRPr>
            </a:pPr>
            <a:r>
              <a:t>Transaksi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6309360"/>
            <a:ext cx="10881360" cy="2743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2960" y="632764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2400E"/>
                </a:solidFill>
                <a:latin typeface="Calibri"/>
              </a:defRPr>
            </a:pPr>
            <a:r>
              <a:t>🔒  6 SQLite Triggers aktif: mencegah UPDATE dan DELETE pada data billing_tickets, calculations, dan invoices yang berstatus INVOICED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Compliance Matrix — Pemetaan Kepatuhan Regulasi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Requirement blueprint (RQ-01 s/d RQ-12) dan status implementasi di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731520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1280160"/>
            <a:ext cx="2011680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1298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Requirement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280160"/>
            <a:ext cx="6400800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0" y="129844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Implementasi di Prototype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280160"/>
            <a:ext cx="731520" cy="3200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0" y="12984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645920"/>
            <a:ext cx="987552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170078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RQ-01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17007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Date Range Validity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70078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valid_from/valid_to pada price_versions dan billing_rules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170078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029968"/>
            <a:ext cx="9875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0848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RQ-02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Database Immutability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08483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SQLite triggers lock INVOICED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0848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414016"/>
            <a:ext cx="987552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24688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RQ-03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2468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Retroactive Adjustment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4688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Adjustment ticket engine (credit/debit note)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4688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798064"/>
            <a:ext cx="9875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28529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RQ-04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28529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Mid-Month Proration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285292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Proration engine dengan daily average splitting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28529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82112"/>
            <a:ext cx="987552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323697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RQ-05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32369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Audit Trail Snapshot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23697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trace_json + snapshot tarif per kalkulasi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323697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566160"/>
            <a:ext cx="9875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36210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RQ-06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36210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Formula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362102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4 formula billing: postpaid, annual, hybrid, take-or-pay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362102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950208"/>
            <a:ext cx="987552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40050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RQ-07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40050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HGBT Cap Validation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40050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Auto-validate rate ≤ USD 6.00/MMBTU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400507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334256"/>
            <a:ext cx="9875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43891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RQ-08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" y="43891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Payment Scheme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0" y="43891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Postpaid, prepaid, hybrid — balance deduction engine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43891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718304"/>
            <a:ext cx="987552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" y="47731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RQ-09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71600" y="47731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Calculation Versioning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80" y="477316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Auto-increment version (v1→v2→v3)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47731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102352"/>
            <a:ext cx="9875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0080" y="515721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RQ-10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1600" y="51572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State Machine Guard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515721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Forward-only status lifecycle VALIDATED→APPROVED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515721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486400"/>
            <a:ext cx="987552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0080" y="55412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RQ-11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71600" y="554126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IDR Conversion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554126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JISDOR rate + PPN 11% conversion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554126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5870448"/>
            <a:ext cx="9875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080" y="59253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JetBrains Mono"/>
              </a:defRPr>
            </a:pPr>
            <a:r>
              <a:t>RQ-12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71600" y="5925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Invoice eDoc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83280" y="592531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Breakdown lengkap + source reference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84080" y="59253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Next Steps — Area Konfirmasi Bisnis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A5FA"/>
                </a:solidFill>
                <a:latin typeface="Calibri"/>
              </a:defRPr>
            </a:pPr>
            <a:r>
              <a:t>Hal-hal yang memerlukan keputusan bisnis sebelum development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228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Calibri"/>
              </a:defRPr>
            </a:pPr>
            <a:r>
              <a:t>OMNI X  |  MyDX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0881360" cy="91440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444752"/>
            <a:ext cx="36576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5331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Approval Matrix &amp; Role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002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Definisi matrix approval multi-level dan role-based access control (RBAC). Saat ini disederhanakan menjadi 1 checkbox checker. Perlu konfirmasi: berapa level approval? Siapa saja approver per tier?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417320"/>
            <a:ext cx="1645920" cy="2743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9E0B"/>
                </a:solidFill>
                <a:latin typeface="Calibri"/>
              </a:defRPr>
            </a:pPr>
            <a:r>
              <a:t>Konfirmasi role &amp; level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31720"/>
            <a:ext cx="10881360" cy="91440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2496312"/>
            <a:ext cx="36576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4048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Integrasi Data Eksternal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651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Koneksi ke sistem Migas, meter telemetry, dan sumber data pihak ketiga. Saat ini data meter reading di-seed manual. Perlu konfirmasi: format data apa? API atau batch file?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468880"/>
            <a:ext cx="1645920" cy="2743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9E0B"/>
                </a:solidFill>
                <a:latin typeface="Calibri"/>
              </a:defRPr>
            </a:pPr>
            <a:r>
              <a:t>Definisi interface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10881360" cy="91440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3547872"/>
            <a:ext cx="36576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45643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Format Invoice eDoc Resmi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03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Template PPN/e-Faktur, digital signature, dan numbering resmi PGNCOM. Saat ini invoice menggunakan format prototype. Perlu konfirmasi: template resmi dan requirement e-Faktur.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3520440"/>
            <a:ext cx="1645920" cy="2743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9E0B"/>
                </a:solidFill>
                <a:latin typeface="Calibri"/>
              </a:defRPr>
            </a:pPr>
            <a:r>
              <a:t>Template &amp; 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39"/>
            <a:ext cx="10881360" cy="91440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4599431"/>
            <a:ext cx="36576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507991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Precedence Regulasi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75487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Aturan prioritas resmi antar regulasi/kontrak/commercial circular saat terjadi konflik. Perlu konfirmasi: bagaimana jika 2 regulasi berlaku bersamaan?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4571999"/>
            <a:ext cx="1645920" cy="2743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9E0B"/>
                </a:solidFill>
                <a:latin typeface="Calibri"/>
              </a:defRPr>
            </a:pPr>
            <a:r>
              <a:t>Business rule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86400"/>
            <a:ext cx="10881360" cy="914400"/>
          </a:xfrm>
          <a:prstGeom prst="round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1520" y="5650992"/>
            <a:ext cx="36576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5595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Service/Delivery Point &amp; Meter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806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4748B"/>
                </a:solidFill>
                <a:latin typeface="Calibri"/>
              </a:defRPr>
            </a:pPr>
            <a:r>
              <a:t>Tabel terpisah untuk multi-point delivery dan multi-meter per kontrak. Saat ini 1 kontrak = 1 meter. Perlu konfirmasi: berapa meter per kontrak di lapangan?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5623560"/>
            <a:ext cx="1645920" cy="2743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59E0B"/>
                </a:solidFill>
                <a:latin typeface="Calibri"/>
              </a:defRPr>
            </a:pPr>
            <a:r>
              <a:t>Data model extension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8A"/>
                </a:solidFill>
                <a:latin typeface="Calibri"/>
              </a:defRPr>
            </a:pPr>
            <a:r>
              <a:t>OMNI X  |  MyDX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1E3A8A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Calibri"/>
              </a:defRPr>
            </a:pPr>
            <a:r>
              <a:t>Sesi Diskusi &amp; Tanya Jawab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Prototype ini berfungsi penuh sebagai proof-of-concept. Setelah konfirmasi bisnis diperoleh, tim siap memulai development phase dengan arsitektur yang sudah tervalidasi.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Tim MyDX — PT Infomedia Nusantara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  <a:latin typeface="Calibri"/>
              </a:defRPr>
            </a:pPr>
            <a:r>
              <a:t>Product: MyDX Gas Billing  |  Discovery Phase 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FDBFE"/>
                </a:solidFill>
                <a:latin typeface="Calibri"/>
              </a:defRPr>
            </a:pPr>
            <a:r>
              <a:t>14 Agustus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Calibri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2777</Words>
  <Application>Microsoft Office PowerPoint</Application>
  <PresentationFormat>Widescreen</PresentationFormat>
  <Paragraphs>455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M. Malvino Rozi</cp:lastModifiedBy>
  <cp:revision>2</cp:revision>
  <dcterms:created xsi:type="dcterms:W3CDTF">2013-01-27T09:14:16Z</dcterms:created>
  <dcterms:modified xsi:type="dcterms:W3CDTF">2026-08-14T03:41:51Z</dcterms:modified>
  <cp:category/>
</cp:coreProperties>
</file>